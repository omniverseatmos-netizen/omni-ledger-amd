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omni-ledger-cover-16x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6629400" cy="6858000"/>
          </a:xfrm>
          <a:prstGeom prst="rect">
            <a:avLst/>
          </a:prstGeom>
          <a:solidFill>
            <a:srgbClr val="080D16"/>
          </a:solidFill>
          <a:ln w="8890">
            <a:solidFill>
              <a:srgbClr val="080D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658368"/>
            <a:ext cx="53035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 spc="120">
                <a:solidFill>
                  <a:srgbClr val="6FE6C5"/>
                </a:solidFill>
                <a:latin typeface="Arial"/>
              </a:rPr>
              <a:t>AMD DEVELOPER HACKATHON · ACT III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53312"/>
            <a:ext cx="5623560" cy="7315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800" b="1">
                <a:solidFill>
                  <a:srgbClr val="F2F6FB"/>
                </a:solidFill>
                <a:latin typeface="Arial"/>
              </a:rPr>
              <a:t>OmNi-Ledger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21992"/>
            <a:ext cx="5486400" cy="10789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DCE7F3"/>
                </a:solidFill>
                <a:latin typeface="Arial"/>
              </a:rPr>
              <a:t>Deterministic supply-chain control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DCE7F3"/>
                </a:solidFill>
                <a:latin typeface="Arial"/>
              </a:rPr>
              <a:t>for AI-assisted pharmaceutical intake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3657600"/>
            <a:ext cx="4983480" cy="6949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FE6C5"/>
                </a:solidFill>
                <a:latin typeface="Arial"/>
              </a:rPr>
              <a:t>AI may extract and propose.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6FE6C5"/>
                </a:solidFill>
                <a:latin typeface="Arial"/>
              </a:rPr>
              <a:t>Deterministic rules decide what is allowed.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754880"/>
            <a:ext cx="3749039" cy="420624"/>
          </a:xfrm>
          <a:prstGeom prst="roundRect">
            <a:avLst>
              <a:gd name="adj" fmla="val 12000"/>
            </a:avLst>
          </a:prstGeom>
          <a:solidFill>
            <a:srgbClr val="101D2D"/>
          </a:solidFill>
          <a:ln w="8890">
            <a:solidFill>
              <a:srgbClr val="20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754880"/>
            <a:ext cx="3749039" cy="4206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80B7FF"/>
                </a:solidFill>
                <a:latin typeface="Arial"/>
              </a:rPr>
              <a:t>PROPOSED TRACK  ·  REINVENT COMMERCE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26480"/>
            <a:ext cx="5486400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BDCCDC"/>
                </a:solidFill>
                <a:latin typeface="Arial"/>
              </a:rPr>
              <a:t>Solo-founder prototype  ·  Egypt  ·  Technical evaluation build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27080" y="566928"/>
            <a:ext cx="548640" cy="548640"/>
          </a:xfrm>
          <a:prstGeom prst="roundRect">
            <a:avLst>
              <a:gd name="adj" fmla="val 12000"/>
            </a:avLst>
          </a:prstGeom>
          <a:solidFill>
            <a:srgbClr val="101D2D"/>
          </a:solidFill>
          <a:ln w="8890">
            <a:solidFill>
              <a:srgbClr val="6FE6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9376" y="713232"/>
            <a:ext cx="38404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6FE6C5"/>
                </a:solidFill>
                <a:latin typeface="Arial"/>
              </a:rPr>
              <a:t>OL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73152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 spc="120">
                <a:solidFill>
                  <a:srgbClr val="6FE6C5"/>
                </a:solidFill>
                <a:latin typeface="Arial"/>
              </a:rPr>
              <a:t>01 /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94944"/>
            <a:ext cx="1097280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F2F6FB"/>
                </a:solidFill>
                <a:latin typeface="Arial"/>
              </a:rPr>
              <a:t>An alert is not a control.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07592"/>
            <a:ext cx="1069848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91A1B7"/>
                </a:solidFill>
                <a:latin typeface="Arial"/>
              </a:rPr>
              <a:t>Pharmaceutical supply chains need rules that remain effective after an invoice has been read and stock has entered the warehouse.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011680"/>
            <a:ext cx="3493008" cy="1938528"/>
          </a:xfrm>
          <a:prstGeom prst="roundRect">
            <a:avLst>
              <a:gd name="adj" fmla="val 12000"/>
            </a:avLst>
          </a:prstGeom>
          <a:solidFill>
            <a:srgbClr val="0D1623"/>
          </a:solidFill>
          <a:ln w="8890">
            <a:solidFill>
              <a:srgbClr val="20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2011680"/>
            <a:ext cx="41148" cy="1938528"/>
          </a:xfrm>
          <a:prstGeom prst="rect">
            <a:avLst/>
          </a:prstGeom>
          <a:solidFill>
            <a:srgbClr val="FFCA80"/>
          </a:solidFill>
          <a:ln w="8890">
            <a:solidFill>
              <a:srgbClr val="FFC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194560"/>
            <a:ext cx="3127248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2F6FB"/>
                </a:solidFill>
                <a:latin typeface="Arial"/>
              </a:rPr>
              <a:t>01  Wrong item or batch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596896"/>
            <a:ext cx="3127248" cy="11338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91A1B7"/>
                </a:solidFill>
                <a:latin typeface="Arial"/>
              </a:rPr>
              <a:t>A plausible document extraction can still refer to the wrong SKU, lot, expiry, or quantity. Human review alone can miss a mismatch.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675888"/>
            <a:ext cx="3127248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700" b="1">
                <a:solidFill>
                  <a:srgbClr val="FFCA80"/>
                </a:solidFill>
                <a:latin typeface="Arial"/>
              </a:rPr>
              <a:t>IDENTITY + SCHEMA VALIDATION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2011680"/>
            <a:ext cx="3493008" cy="1938528"/>
          </a:xfrm>
          <a:prstGeom prst="roundRect">
            <a:avLst>
              <a:gd name="adj" fmla="val 12000"/>
            </a:avLst>
          </a:prstGeom>
          <a:solidFill>
            <a:srgbClr val="0D1623"/>
          </a:solidFill>
          <a:ln w="8890">
            <a:solidFill>
              <a:srgbClr val="20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2011680"/>
            <a:ext cx="41148" cy="1938528"/>
          </a:xfrm>
          <a:prstGeom prst="rect">
            <a:avLst/>
          </a:prstGeom>
          <a:solidFill>
            <a:srgbClr val="FF8093"/>
          </a:solidFill>
          <a:ln w="8890">
            <a:solidFill>
              <a:srgbClr val="FF80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2194560"/>
            <a:ext cx="3127248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2F6FB"/>
                </a:solidFill>
                <a:latin typeface="Arial"/>
              </a:rPr>
              <a:t>02  Expired stock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596896"/>
            <a:ext cx="3127248" cy="11338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91A1B7"/>
                </a:solidFill>
                <a:latin typeface="Arial"/>
              </a:rPr>
              <a:t>If an expired batch becomes available inventory, the error can travel into allocation, picking, packing, and dispatch.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3675888"/>
            <a:ext cx="3127248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700" b="1">
                <a:solidFill>
                  <a:srgbClr val="FF8093"/>
                </a:solidFill>
                <a:latin typeface="Arial"/>
              </a:rPr>
              <a:t>DETERMINISTIC HARD BLOCK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2011680"/>
            <a:ext cx="3493008" cy="1938528"/>
          </a:xfrm>
          <a:prstGeom prst="roundRect">
            <a:avLst>
              <a:gd name="adj" fmla="val 12000"/>
            </a:avLst>
          </a:prstGeom>
          <a:solidFill>
            <a:srgbClr val="0D1623"/>
          </a:solidFill>
          <a:ln w="8890">
            <a:solidFill>
              <a:srgbClr val="20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2440" y="2011680"/>
            <a:ext cx="41148" cy="1938528"/>
          </a:xfrm>
          <a:prstGeom prst="rect">
            <a:avLst/>
          </a:prstGeom>
          <a:solidFill>
            <a:srgbClr val="80B7FF"/>
          </a:solidFill>
          <a:ln w="8890">
            <a:solidFill>
              <a:srgbClr val="80B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19" y="2194560"/>
            <a:ext cx="3127248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2F6FB"/>
                </a:solidFill>
                <a:latin typeface="Arial"/>
              </a:rPr>
              <a:t>03  Recall after dispatch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19" y="2596896"/>
            <a:ext cx="3127248" cy="11338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91A1B7"/>
                </a:solidFill>
                <a:latin typeface="Arial"/>
              </a:rPr>
              <a:t>A recall must identify remaining stock and affected recorded customer orders—not just change a red status badge.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19" y="3675888"/>
            <a:ext cx="3127248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700" b="1">
                <a:solidFill>
                  <a:srgbClr val="80B7FF"/>
                </a:solidFill>
                <a:latin typeface="Arial"/>
              </a:rPr>
              <a:t>BATCH TRACE + AUDIT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4206240"/>
            <a:ext cx="10991088" cy="1737360"/>
          </a:xfrm>
          <a:prstGeom prst="roundRect">
            <a:avLst>
              <a:gd name="adj" fmla="val 12000"/>
            </a:avLst>
          </a:prstGeom>
          <a:solidFill>
            <a:srgbClr val="101D2D"/>
          </a:solidFill>
          <a:ln w="8890">
            <a:solidFill>
              <a:srgbClr val="20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407408"/>
            <a:ext cx="27432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 spc="120">
                <a:solidFill>
                  <a:srgbClr val="6FE6C5"/>
                </a:solidFill>
                <a:latin typeface="Arial"/>
              </a:rPr>
              <a:t>THE DESIGN QUESTION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709160"/>
            <a:ext cx="9966960" cy="7498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900" b="1">
                <a:solidFill>
                  <a:srgbClr val="F2F6FB"/>
                </a:solidFill>
                <a:latin typeface="Arial"/>
              </a:rPr>
              <a:t>How can AI help process invoices without becoming the authority that changes critical inventory?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559552"/>
            <a:ext cx="996696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91A1B7"/>
                </a:solidFill>
                <a:latin typeface="Arial"/>
              </a:rPr>
              <a:t>The answer is a clear trust boundary between probabilistic extraction and deterministic execution.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" y="6510528"/>
            <a:ext cx="11000232" cy="7315"/>
          </a:xfrm>
          <a:prstGeom prst="rect">
            <a:avLst/>
          </a:prstGeom>
          <a:solidFill>
            <a:srgbClr val="2032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" y="6565392"/>
            <a:ext cx="73152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700" b="0">
                <a:solidFill>
                  <a:srgbClr val="6F839B"/>
                </a:solidFill>
                <a:latin typeface="Arial"/>
              </a:rPr>
              <a:t>OmNi-Ledger  /  Technical evaluation prototype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44200" y="6556248"/>
            <a:ext cx="804672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700" b="0">
                <a:solidFill>
                  <a:srgbClr val="6F839B"/>
                </a:solidFill>
                <a:latin typeface="Arial"/>
              </a:rPr>
              <a:t>02  /  08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73152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 spc="120">
                <a:solidFill>
                  <a:srgbClr val="6FE6C5"/>
                </a:solidFill>
                <a:latin typeface="Arial"/>
              </a:rPr>
              <a:t>02 /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94944"/>
            <a:ext cx="1097280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F2F6FB"/>
                </a:solidFill>
                <a:latin typeface="Arial"/>
              </a:rPr>
              <a:t>AI reads. Rules decide. Evidence proves.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07592"/>
            <a:ext cx="1069848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91A1B7"/>
                </a:solidFill>
                <a:latin typeface="Arial"/>
              </a:rPr>
              <a:t>One connected control path—from document fields to warehouse state transitions and verifiable records.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212848"/>
            <a:ext cx="2450592" cy="2057400"/>
          </a:xfrm>
          <a:prstGeom prst="roundRect">
            <a:avLst>
              <a:gd name="adj" fmla="val 12000"/>
            </a:avLst>
          </a:prstGeom>
          <a:solidFill>
            <a:srgbClr val="0D1623"/>
          </a:solidFill>
          <a:ln w="8890">
            <a:solidFill>
              <a:srgbClr val="20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423160"/>
            <a:ext cx="20574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 spc="120">
                <a:solidFill>
                  <a:srgbClr val="80B7FF"/>
                </a:solidFill>
                <a:latin typeface="Arial"/>
              </a:rPr>
              <a:t>01 / EXTRACT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907792"/>
            <a:ext cx="2057400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2F6FB"/>
                </a:solidFill>
                <a:latin typeface="Arial"/>
              </a:rPr>
              <a:t>Gemma on AMD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584448"/>
            <a:ext cx="205740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1A1B7"/>
                </a:solidFill>
                <a:latin typeface="Arial"/>
              </a:rPr>
              <a:t>Untrusted structured fields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063240" y="3246120"/>
            <a:ext cx="292608" cy="0"/>
          </a:xfrm>
          <a:prstGeom prst="line">
            <a:avLst/>
          </a:prstGeom>
          <a:ln w="15240">
            <a:solidFill>
              <a:srgbClr val="6FE6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447288" y="2212848"/>
            <a:ext cx="2450592" cy="2057400"/>
          </a:xfrm>
          <a:prstGeom prst="roundRect">
            <a:avLst>
              <a:gd name="adj" fmla="val 12000"/>
            </a:avLst>
          </a:prstGeom>
          <a:solidFill>
            <a:srgbClr val="0D1623"/>
          </a:solidFill>
          <a:ln w="8890">
            <a:solidFill>
              <a:srgbClr val="20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30168" y="2423160"/>
            <a:ext cx="20574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 spc="120">
                <a:solidFill>
                  <a:srgbClr val="6FE6C5"/>
                </a:solidFill>
                <a:latin typeface="Arial"/>
              </a:rPr>
              <a:t>02 / VALIDATE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0168" y="2907792"/>
            <a:ext cx="2057400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2F6FB"/>
                </a:solidFill>
                <a:latin typeface="Arial"/>
              </a:rPr>
              <a:t>Strict policy gate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0168" y="3584448"/>
            <a:ext cx="205740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1A1B7"/>
                </a:solidFill>
                <a:latin typeface="Arial"/>
              </a:rPr>
              <a:t>Dates · SKU · quantity · authority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916168" y="3246120"/>
            <a:ext cx="292608" cy="0"/>
          </a:xfrm>
          <a:prstGeom prst="line">
            <a:avLst/>
          </a:prstGeom>
          <a:ln w="15240">
            <a:solidFill>
              <a:srgbClr val="6FE6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300216" y="2212848"/>
            <a:ext cx="2450592" cy="2057400"/>
          </a:xfrm>
          <a:prstGeom prst="roundRect">
            <a:avLst>
              <a:gd name="adj" fmla="val 12000"/>
            </a:avLst>
          </a:prstGeom>
          <a:solidFill>
            <a:srgbClr val="0D1623"/>
          </a:solidFill>
          <a:ln w="8890">
            <a:solidFill>
              <a:srgbClr val="20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83096" y="2423160"/>
            <a:ext cx="20574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 spc="120">
                <a:solidFill>
                  <a:srgbClr val="FFCA80"/>
                </a:solidFill>
                <a:latin typeface="Arial"/>
              </a:rPr>
              <a:t>03 / 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83096" y="2907792"/>
            <a:ext cx="2057400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2F6FB"/>
                </a:solidFill>
                <a:latin typeface="Arial"/>
              </a:rPr>
              <a:t>Warehouse core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83096" y="3584448"/>
            <a:ext cx="205740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1A1B7"/>
                </a:solidFill>
                <a:latin typeface="Arial"/>
              </a:rPr>
              <a:t>QC · FEFO · scan · recall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769096" y="3246120"/>
            <a:ext cx="292608" cy="0"/>
          </a:xfrm>
          <a:prstGeom prst="line">
            <a:avLst/>
          </a:prstGeom>
          <a:ln w="15240">
            <a:solidFill>
              <a:srgbClr val="6FE6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153144" y="2212848"/>
            <a:ext cx="2450592" cy="2057400"/>
          </a:xfrm>
          <a:prstGeom prst="roundRect">
            <a:avLst>
              <a:gd name="adj" fmla="val 12000"/>
            </a:avLst>
          </a:prstGeom>
          <a:solidFill>
            <a:srgbClr val="0D1623"/>
          </a:solidFill>
          <a:ln w="8890">
            <a:solidFill>
              <a:srgbClr val="20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36024" y="2423160"/>
            <a:ext cx="20574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 spc="120">
                <a:solidFill>
                  <a:srgbClr val="7DE2BD"/>
                </a:solidFill>
                <a:latin typeface="Arial"/>
              </a:rPr>
              <a:t>04 / PROVE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36024" y="2907792"/>
            <a:ext cx="2057400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2F6FB"/>
                </a:solidFill>
                <a:latin typeface="Arial"/>
              </a:rPr>
              <a:t>Audit evidence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36024" y="3584448"/>
            <a:ext cx="205740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1A1B7"/>
                </a:solidFill>
                <a:latin typeface="Arial"/>
              </a:rPr>
              <a:t>SHA-256 chain · state seal · Merkle root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4709160"/>
            <a:ext cx="10991088" cy="841248"/>
          </a:xfrm>
          <a:prstGeom prst="roundRect">
            <a:avLst>
              <a:gd name="adj" fmla="val 12000"/>
            </a:avLst>
          </a:prstGeom>
          <a:solidFill>
            <a:srgbClr val="0D1C29"/>
          </a:solidFill>
          <a:ln w="8890">
            <a:solidFill>
              <a:srgbClr val="20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2" y="4709160"/>
            <a:ext cx="1325880" cy="8412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6FE6C5"/>
                </a:solidFill>
                <a:latin typeface="Arial"/>
              </a:rPr>
              <a:t>Core invariant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94560" y="4709160"/>
            <a:ext cx="9235440" cy="8412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2F6FB"/>
                </a:solidFill>
                <a:latin typeface="Arial"/>
              </a:rPr>
              <a:t>The model never writes inventory balances directly.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779008"/>
            <a:ext cx="996696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1A1B7"/>
                </a:solidFill>
                <a:latin typeface="Arial"/>
              </a:rPr>
              <a:t>Live inference runs in the secure Node CLI. The public judge page runs deterministic local scenarios.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" y="6510528"/>
            <a:ext cx="11000232" cy="7315"/>
          </a:xfrm>
          <a:prstGeom prst="rect">
            <a:avLst/>
          </a:prstGeom>
          <a:solidFill>
            <a:srgbClr val="2032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" y="6565392"/>
            <a:ext cx="73152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700" b="0">
                <a:solidFill>
                  <a:srgbClr val="6F839B"/>
                </a:solidFill>
                <a:latin typeface="Arial"/>
              </a:rPr>
              <a:t>OmNi-Ledger  /  Technical evaluation prototype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44200" y="6556248"/>
            <a:ext cx="804672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700" b="0">
                <a:solidFill>
                  <a:srgbClr val="6F839B"/>
                </a:solidFill>
                <a:latin typeface="Arial"/>
              </a:rPr>
              <a:t>03  /  08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73152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 spc="120">
                <a:solidFill>
                  <a:srgbClr val="6FE6C5"/>
                </a:solidFill>
                <a:latin typeface="Arial"/>
              </a:rPr>
              <a:t>03 / IMPLEMENTED CONTROLS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94944"/>
            <a:ext cx="1097280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F2F6FB"/>
                </a:solidFill>
                <a:latin typeface="Arial"/>
              </a:rPr>
              <a:t>Operational rules—not UI promises.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07592"/>
            <a:ext cx="1069848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91A1B7"/>
                </a:solidFill>
                <a:latin typeface="Arial"/>
              </a:rPr>
              <a:t>The judge edition exposes controls implemented in the shared domain core. Each visible decision is reproducible in the local scenario.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975104"/>
            <a:ext cx="5321808" cy="1325880"/>
          </a:xfrm>
          <a:prstGeom prst="roundRect">
            <a:avLst>
              <a:gd name="adj" fmla="val 12000"/>
            </a:avLst>
          </a:prstGeom>
          <a:solidFill>
            <a:srgbClr val="0D1623"/>
          </a:solidFill>
          <a:ln w="8890">
            <a:solidFill>
              <a:srgbClr val="20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975104"/>
            <a:ext cx="41148" cy="1325880"/>
          </a:xfrm>
          <a:prstGeom prst="rect">
            <a:avLst/>
          </a:prstGeom>
          <a:solidFill>
            <a:srgbClr val="FF8093"/>
          </a:solidFill>
          <a:ln w="8890">
            <a:solidFill>
              <a:srgbClr val="FF80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157984"/>
            <a:ext cx="4956048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2F6FB"/>
                </a:solidFill>
                <a:latin typeface="Arial"/>
              </a:rPr>
              <a:t>Expiry &amp; receiving gate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560320"/>
            <a:ext cx="4956048" cy="52120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91A1B7"/>
                </a:solidFill>
                <a:latin typeface="Arial"/>
              </a:rPr>
              <a:t>An expired batch is rejected before it can become available stock; posting follows the QC workflow.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026664"/>
            <a:ext cx="4956048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700" b="1">
                <a:solidFill>
                  <a:srgbClr val="FF8093"/>
                </a:solidFill>
                <a:latin typeface="Arial"/>
              </a:rPr>
              <a:t>NEGATIVE CONTROL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6208" y="1975104"/>
            <a:ext cx="5321808" cy="1325880"/>
          </a:xfrm>
          <a:prstGeom prst="roundRect">
            <a:avLst>
              <a:gd name="adj" fmla="val 12000"/>
            </a:avLst>
          </a:prstGeom>
          <a:solidFill>
            <a:srgbClr val="0D1623"/>
          </a:solidFill>
          <a:ln w="8890">
            <a:solidFill>
              <a:srgbClr val="20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36208" y="1975104"/>
            <a:ext cx="41148" cy="1325880"/>
          </a:xfrm>
          <a:prstGeom prst="rect">
            <a:avLst/>
          </a:prstGeom>
          <a:solidFill>
            <a:srgbClr val="80B7FF"/>
          </a:solidFill>
          <a:ln w="8890">
            <a:solidFill>
              <a:srgbClr val="80B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2157984"/>
            <a:ext cx="4956048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2F6FB"/>
                </a:solidFill>
                <a:latin typeface="Arial"/>
              </a:rPr>
              <a:t>FEFO &amp; scan verification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2560320"/>
            <a:ext cx="4956048" cy="52120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91A1B7"/>
                </a:solidFill>
                <a:latin typeface="Arial"/>
              </a:rPr>
              <a:t>Allocation uses eligible stock; picking verifies both item identity and the allocated batch.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3026664"/>
            <a:ext cx="4956048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700" b="1">
                <a:solidFill>
                  <a:srgbClr val="80B7FF"/>
                </a:solidFill>
                <a:latin typeface="Arial"/>
              </a:rPr>
              <a:t>ORDER STATE MACHINE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584448"/>
            <a:ext cx="5321808" cy="1325880"/>
          </a:xfrm>
          <a:prstGeom prst="roundRect">
            <a:avLst>
              <a:gd name="adj" fmla="val 12000"/>
            </a:avLst>
          </a:prstGeom>
          <a:solidFill>
            <a:srgbClr val="0D1623"/>
          </a:solidFill>
          <a:ln w="8890">
            <a:solidFill>
              <a:srgbClr val="20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4360" y="3584448"/>
            <a:ext cx="41148" cy="1325880"/>
          </a:xfrm>
          <a:prstGeom prst="rect">
            <a:avLst/>
          </a:prstGeom>
          <a:solidFill>
            <a:srgbClr val="FFCA80"/>
          </a:solidFill>
          <a:ln w="8890">
            <a:solidFill>
              <a:srgbClr val="FFC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767328"/>
            <a:ext cx="4956048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2F6FB"/>
                </a:solidFill>
                <a:latin typeface="Arial"/>
              </a:rPr>
              <a:t>Recall &amp; quarantine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169663"/>
            <a:ext cx="4956048" cy="52120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91A1B7"/>
                </a:solidFill>
                <a:latin typeface="Arial"/>
              </a:rPr>
              <a:t>A documented recall requires separate initiator and approver identities, then moves available stock in the selected warehouse into quarantine.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636008"/>
            <a:ext cx="4956048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700" b="1">
                <a:solidFill>
                  <a:srgbClr val="FFCA80"/>
                </a:solidFill>
                <a:latin typeface="Arial"/>
              </a:rPr>
              <a:t>RECALLED_BATCH GUARDS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3584448"/>
            <a:ext cx="5321808" cy="1325880"/>
          </a:xfrm>
          <a:prstGeom prst="roundRect">
            <a:avLst>
              <a:gd name="adj" fmla="val 12000"/>
            </a:avLst>
          </a:prstGeom>
          <a:solidFill>
            <a:srgbClr val="0D1623"/>
          </a:solidFill>
          <a:ln w="8890">
            <a:solidFill>
              <a:srgbClr val="20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6208" y="3584448"/>
            <a:ext cx="41148" cy="1325880"/>
          </a:xfrm>
          <a:prstGeom prst="rect">
            <a:avLst/>
          </a:prstGeom>
          <a:solidFill>
            <a:srgbClr val="6FE6C5"/>
          </a:solidFill>
          <a:ln w="8890">
            <a:solidFill>
              <a:srgbClr val="6FE6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19088" y="3767328"/>
            <a:ext cx="4956048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2F6FB"/>
                </a:solidFill>
                <a:latin typeface="Arial"/>
              </a:rPr>
              <a:t>Audit integrity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9088" y="4169663"/>
            <a:ext cx="4956048" cy="521207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91A1B7"/>
                </a:solidFill>
                <a:latin typeface="Arial"/>
              </a:rPr>
              <a:t>Ledger movements and audit events are hash-linked; state-seal verification can reveal inconsistent data.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9088" y="4636008"/>
            <a:ext cx="4956048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700" b="1">
                <a:solidFill>
                  <a:srgbClr val="6FE6C5"/>
                </a:solidFill>
                <a:latin typeface="Arial"/>
              </a:rPr>
              <a:t>TAMPER-EVIDENT · NOT A LEGAL SIGNATURE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5285232"/>
            <a:ext cx="10991088" cy="521207"/>
          </a:xfrm>
          <a:prstGeom prst="roundRect">
            <a:avLst>
              <a:gd name="adj" fmla="val 12000"/>
            </a:avLst>
          </a:prstGeom>
          <a:solidFill>
            <a:srgbClr val="101D2D"/>
          </a:solidFill>
          <a:ln w="8890">
            <a:solidFill>
              <a:srgbClr val="20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285232"/>
            <a:ext cx="10607040" cy="521207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DCE7F3"/>
                </a:solidFill>
                <a:latin typeface="Arial"/>
              </a:rPr>
              <a:t>The same core powers the interactive judge demo and the live-CLI post-extraction decision.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" y="6510528"/>
            <a:ext cx="11000232" cy="7315"/>
          </a:xfrm>
          <a:prstGeom prst="rect">
            <a:avLst/>
          </a:prstGeom>
          <a:solidFill>
            <a:srgbClr val="2032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" y="6565392"/>
            <a:ext cx="73152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700" b="0">
                <a:solidFill>
                  <a:srgbClr val="6F839B"/>
                </a:solidFill>
                <a:latin typeface="Arial"/>
              </a:rPr>
              <a:t>OmNi-Ledger  /  Technical evaluation prototype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44200" y="6556248"/>
            <a:ext cx="804672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700" b="0">
                <a:solidFill>
                  <a:srgbClr val="6F839B"/>
                </a:solidFill>
                <a:latin typeface="Arial"/>
              </a:rPr>
              <a:t>04  /  08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73152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 spc="120">
                <a:solidFill>
                  <a:srgbClr val="6FE6C5"/>
                </a:solidFill>
                <a:latin typeface="Arial"/>
              </a:rPr>
              <a:t>04 / SIGNATURE MOMENT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94944"/>
            <a:ext cx="1097280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F2F6FB"/>
                </a:solidFill>
                <a:latin typeface="Arial"/>
              </a:rPr>
              <a:t>Batch recall: trace backward, control forward.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07592"/>
            <a:ext cx="1069848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91A1B7"/>
                </a:solidFill>
                <a:latin typeface="Arial"/>
              </a:rPr>
              <a:t>Fictional demonstration scenario — computed by the packaged domain core, not manually authored dashboard numbers.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920240"/>
            <a:ext cx="3246120" cy="1325880"/>
          </a:xfrm>
          <a:prstGeom prst="roundRect">
            <a:avLst>
              <a:gd name="adj" fmla="val 12000"/>
            </a:avLst>
          </a:prstGeom>
          <a:solidFill>
            <a:srgbClr val="0D1623"/>
          </a:solidFill>
          <a:ln w="8890">
            <a:solidFill>
              <a:srgbClr val="20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130552"/>
            <a:ext cx="25603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 spc="120">
                <a:solidFill>
                  <a:srgbClr val="80B7FF"/>
                </a:solidFill>
                <a:latin typeface="Arial"/>
              </a:rPr>
              <a:t>SUPPLIER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441448"/>
            <a:ext cx="283464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2F6FB"/>
                </a:solidFill>
                <a:latin typeface="Arial"/>
              </a:rPr>
              <a:t>United Pharmaceutical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2F6FB"/>
                </a:solidFill>
                <a:latin typeface="Arial"/>
              </a:rPr>
              <a:t>Supply Co.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971800"/>
            <a:ext cx="283464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80B7FF"/>
                </a:solidFill>
                <a:latin typeface="Arial"/>
              </a:rPr>
              <a:t>100 boxes received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1920240"/>
            <a:ext cx="3246120" cy="1325880"/>
          </a:xfrm>
          <a:prstGeom prst="roundRect">
            <a:avLst>
              <a:gd name="adj" fmla="val 12000"/>
            </a:avLst>
          </a:prstGeom>
          <a:solidFill>
            <a:srgbClr val="0D1623"/>
          </a:solidFill>
          <a:ln w="8890">
            <a:solidFill>
              <a:srgbClr val="20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53712" y="2130552"/>
            <a:ext cx="25603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 spc="120">
                <a:solidFill>
                  <a:srgbClr val="FF8093"/>
                </a:solidFill>
                <a:latin typeface="Arial"/>
              </a:rPr>
              <a:t>WAREHOUSE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3712" y="2441448"/>
            <a:ext cx="283464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2F6FB"/>
                </a:solidFill>
                <a:latin typeface="Arial"/>
              </a:rPr>
              <a:t>WH-OCT6 · QUARANTINE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3712" y="2971800"/>
            <a:ext cx="283464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FF8093"/>
                </a:solidFill>
                <a:latin typeface="Arial"/>
              </a:rPr>
              <a:t>70 boxes held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47304" y="1920240"/>
            <a:ext cx="3246120" cy="1325880"/>
          </a:xfrm>
          <a:prstGeom prst="roundRect">
            <a:avLst>
              <a:gd name="adj" fmla="val 12000"/>
            </a:avLst>
          </a:prstGeom>
          <a:solidFill>
            <a:srgbClr val="0D1623"/>
          </a:solidFill>
          <a:ln w="8890">
            <a:solidFill>
              <a:srgbClr val="20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30183" y="2130552"/>
            <a:ext cx="25603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 spc="120">
                <a:solidFill>
                  <a:srgbClr val="6FE6C5"/>
                </a:solidFill>
                <a:latin typeface="Arial"/>
              </a:rPr>
              <a:t>CUSTOMER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0183" y="2441448"/>
            <a:ext cx="283464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2F6FB"/>
                </a:solidFill>
                <a:latin typeface="Arial"/>
              </a:rPr>
              <a:t>Al-Shifa Pharmacy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2F6FB"/>
                </a:solidFill>
                <a:latin typeface="Arial"/>
              </a:rPr>
              <a:t>6th of October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0183" y="2971800"/>
            <a:ext cx="283464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6FE6C5"/>
                </a:solidFill>
                <a:latin typeface="Arial"/>
              </a:rPr>
              <a:t>30 boxes dispatched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867912" y="2615184"/>
            <a:ext cx="384048" cy="0"/>
          </a:xfrm>
          <a:prstGeom prst="line">
            <a:avLst/>
          </a:prstGeom>
          <a:ln w="16510">
            <a:solidFill>
              <a:srgbClr val="6FE6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644383" y="2615184"/>
            <a:ext cx="384048" cy="0"/>
          </a:xfrm>
          <a:prstGeom prst="line">
            <a:avLst/>
          </a:prstGeom>
          <a:ln w="16510">
            <a:solidFill>
              <a:srgbClr val="6FE6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94360" y="3584448"/>
            <a:ext cx="6629400" cy="1344168"/>
          </a:xfrm>
          <a:prstGeom prst="roundRect">
            <a:avLst>
              <a:gd name="adj" fmla="val 12000"/>
            </a:avLst>
          </a:prstGeom>
          <a:solidFill>
            <a:srgbClr val="261823"/>
          </a:solidFill>
          <a:ln w="8890">
            <a:solidFill>
              <a:srgbClr val="6330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3803904"/>
            <a:ext cx="36576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 spc="120">
                <a:solidFill>
                  <a:srgbClr val="FF8093"/>
                </a:solidFill>
                <a:latin typeface="Arial"/>
              </a:rPr>
              <a:t>POST-RECALL PICK ATTEMPT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096512"/>
            <a:ext cx="242316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FF8093"/>
                </a:solidFill>
                <a:latin typeface="Arial"/>
              </a:rPr>
              <a:t>HARD BLOCK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46120" y="4169663"/>
            <a:ext cx="292608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DCE7F3"/>
                </a:solidFill>
                <a:latin typeface="Arial"/>
              </a:rPr>
              <a:t>RECALLED_BATCH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608576"/>
            <a:ext cx="56692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D1AAB5"/>
                </a:solidFill>
                <a:latin typeface="Arial"/>
              </a:rPr>
              <a:t>The previously allocated open order cannot be picked.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98079" y="3584448"/>
            <a:ext cx="3904487" cy="1344168"/>
          </a:xfrm>
          <a:prstGeom prst="roundRect">
            <a:avLst>
              <a:gd name="adj" fmla="val 12000"/>
            </a:avLst>
          </a:prstGeom>
          <a:solidFill>
            <a:srgbClr val="101D2D"/>
          </a:solidFill>
          <a:ln w="8890">
            <a:solidFill>
              <a:srgbClr val="20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26679" y="3803904"/>
            <a:ext cx="25603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 spc="120">
                <a:solidFill>
                  <a:srgbClr val="FFCA80"/>
                </a:solidFill>
                <a:latin typeface="Arial"/>
              </a:rPr>
              <a:t>RECALL REFERENCE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26679" y="4133087"/>
            <a:ext cx="3291840" cy="2834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F2F6FB"/>
                </a:solidFill>
                <a:latin typeface="Arial"/>
              </a:rPr>
              <a:t>DEMO-RECALL-017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26679" y="4572000"/>
            <a:ext cx="32918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91A1B7"/>
                </a:solidFill>
                <a:latin typeface="Arial"/>
              </a:rPr>
              <a:t>Reason + separated approval recorded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5550408"/>
            <a:ext cx="1088136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1A1B7"/>
                </a:solidFill>
                <a:latin typeface="Arial"/>
              </a:rPr>
              <a:t>Scope: batch-level trace through recorded warehouse dispatch. No patient, downstream sub-pharmacy, or individual serial tracking is claimed.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" y="6510528"/>
            <a:ext cx="11000232" cy="7315"/>
          </a:xfrm>
          <a:prstGeom prst="rect">
            <a:avLst/>
          </a:prstGeom>
          <a:solidFill>
            <a:srgbClr val="2032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" y="6565392"/>
            <a:ext cx="73152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700" b="0">
                <a:solidFill>
                  <a:srgbClr val="6F839B"/>
                </a:solidFill>
                <a:latin typeface="Arial"/>
              </a:rPr>
              <a:t>OmNi-Ledger  /  Technical evaluation prototype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44200" y="6556248"/>
            <a:ext cx="804672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700" b="0">
                <a:solidFill>
                  <a:srgbClr val="6F839B"/>
                </a:solidFill>
                <a:latin typeface="Arial"/>
              </a:rPr>
              <a:t>05  /  08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73152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 spc="120">
                <a:solidFill>
                  <a:srgbClr val="6FE6C5"/>
                </a:solidFill>
                <a:latin typeface="Arial"/>
              </a:rPr>
              <a:t>05 / VERIFIABILITY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94944"/>
            <a:ext cx="1097280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F2F6FB"/>
                </a:solidFill>
                <a:latin typeface="Arial"/>
              </a:rPr>
              <a:t>Trust is a result you can inspect.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07592"/>
            <a:ext cx="1069848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91A1B7"/>
                </a:solidFill>
                <a:latin typeface="Arial"/>
              </a:rPr>
              <a:t>The report connects the business decision to the ledger, actor, time, and integrity chain.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057400"/>
            <a:ext cx="3493008" cy="1353312"/>
          </a:xfrm>
          <a:prstGeom prst="roundRect">
            <a:avLst>
              <a:gd name="adj" fmla="val 12000"/>
            </a:avLst>
          </a:prstGeom>
          <a:solidFill>
            <a:srgbClr val="0D1623"/>
          </a:solidFill>
          <a:ln w="8890">
            <a:solidFill>
              <a:srgbClr val="20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276856"/>
            <a:ext cx="27432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 spc="120">
                <a:solidFill>
                  <a:srgbClr val="7DE2BD"/>
                </a:solidFill>
                <a:latin typeface="Arial"/>
              </a:rPr>
              <a:t>LEDGER CHAIN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578608"/>
            <a:ext cx="283464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7DE2BD"/>
                </a:solidFill>
                <a:latin typeface="Arial"/>
              </a:rPr>
              <a:t>VALID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044952"/>
            <a:ext cx="30175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91A1B7"/>
                </a:solidFill>
                <a:latin typeface="Arial"/>
              </a:rPr>
              <a:t>Movement records are linked through prior hashes.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2057400"/>
            <a:ext cx="3493008" cy="1353312"/>
          </a:xfrm>
          <a:prstGeom prst="roundRect">
            <a:avLst>
              <a:gd name="adj" fmla="val 12000"/>
            </a:avLst>
          </a:prstGeom>
          <a:solidFill>
            <a:srgbClr val="0D1623"/>
          </a:solidFill>
          <a:ln w="8890">
            <a:solidFill>
              <a:srgbClr val="20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2276856"/>
            <a:ext cx="27432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 spc="120">
                <a:solidFill>
                  <a:srgbClr val="80B7FF"/>
                </a:solidFill>
                <a:latin typeface="Arial"/>
              </a:rPr>
              <a:t>AUDIT CHAIN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2578608"/>
            <a:ext cx="283464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80B7FF"/>
                </a:solidFill>
                <a:latin typeface="Arial"/>
              </a:rPr>
              <a:t>VALID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3044952"/>
            <a:ext cx="30175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91A1B7"/>
                </a:solidFill>
                <a:latin typeface="Arial"/>
              </a:rPr>
              <a:t>Control events preserve their own event sequence.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2057400"/>
            <a:ext cx="3493008" cy="1353312"/>
          </a:xfrm>
          <a:prstGeom prst="roundRect">
            <a:avLst>
              <a:gd name="adj" fmla="val 12000"/>
            </a:avLst>
          </a:prstGeom>
          <a:solidFill>
            <a:srgbClr val="0D1623"/>
          </a:solidFill>
          <a:ln w="8890">
            <a:solidFill>
              <a:srgbClr val="20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19" y="2276856"/>
            <a:ext cx="27432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 spc="120">
                <a:solidFill>
                  <a:srgbClr val="6FE6C5"/>
                </a:solidFill>
                <a:latin typeface="Arial"/>
              </a:rPr>
              <a:t>STATE SEAL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19" y="2578608"/>
            <a:ext cx="283464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6FE6C5"/>
                </a:solidFill>
                <a:latin typeface="Arial"/>
              </a:rPr>
              <a:t>VERIFIED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19" y="3044952"/>
            <a:ext cx="30175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91A1B7"/>
                </a:solidFill>
                <a:latin typeface="Arial"/>
              </a:rPr>
              <a:t>State hash and Merkle root are checked against the sample state.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794760"/>
            <a:ext cx="10991088" cy="1234440"/>
          </a:xfrm>
          <a:prstGeom prst="roundRect">
            <a:avLst>
              <a:gd name="adj" fmla="val 12000"/>
            </a:avLst>
          </a:prstGeom>
          <a:solidFill>
            <a:srgbClr val="101D2D"/>
          </a:solidFill>
          <a:ln w="8890">
            <a:solidFill>
              <a:srgbClr val="20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014215"/>
            <a:ext cx="27432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 spc="120">
                <a:solidFill>
                  <a:srgbClr val="6FE6C5"/>
                </a:solidFill>
                <a:latin typeface="Arial"/>
              </a:rPr>
              <a:t>EXAMPLE EVIDENCE FIELDS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389120"/>
            <a:ext cx="30175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80B7FF"/>
                </a:solidFill>
                <a:latin typeface="Arial"/>
              </a:rPr>
              <a:t>EVENT HASH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645152"/>
            <a:ext cx="31546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DCE7F3"/>
                </a:solidFill>
                <a:latin typeface="Arial"/>
              </a:rPr>
              <a:t>sha256(previousHash + canonicalEvent)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4389120"/>
            <a:ext cx="30175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80B7FF"/>
                </a:solidFill>
                <a:latin typeface="Arial"/>
              </a:rPr>
              <a:t>STATE HASH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4645152"/>
            <a:ext cx="31546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DCE7F3"/>
                </a:solidFill>
                <a:latin typeface="Arial"/>
              </a:rPr>
              <a:t>derived from current state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4389120"/>
            <a:ext cx="30175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80B7FF"/>
                </a:solidFill>
                <a:latin typeface="Arial"/>
              </a:rPr>
              <a:t>MERKLE ROOT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0" y="4645152"/>
            <a:ext cx="31546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DCE7F3"/>
                </a:solidFill>
                <a:latin typeface="Arial"/>
              </a:rPr>
              <a:t>tree root over event/state hashes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5330952"/>
            <a:ext cx="10991088" cy="530352"/>
          </a:xfrm>
          <a:prstGeom prst="roundRect">
            <a:avLst>
              <a:gd name="adj" fmla="val 12000"/>
            </a:avLst>
          </a:prstGeom>
          <a:solidFill>
            <a:srgbClr val="221B20"/>
          </a:solidFill>
          <a:ln w="8890">
            <a:solidFill>
              <a:srgbClr val="4C3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330952"/>
            <a:ext cx="10607040" cy="5303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FFCFD5"/>
                </a:solidFill>
                <a:latin typeface="Arial"/>
              </a:rPr>
              <a:t>Integrity hashes are not encryption, not a legal signature, and not proof of production security by themselves.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" y="6510528"/>
            <a:ext cx="11000232" cy="7315"/>
          </a:xfrm>
          <a:prstGeom prst="rect">
            <a:avLst/>
          </a:prstGeom>
          <a:solidFill>
            <a:srgbClr val="2032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" y="6565392"/>
            <a:ext cx="73152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700" b="0">
                <a:solidFill>
                  <a:srgbClr val="6F839B"/>
                </a:solidFill>
                <a:latin typeface="Arial"/>
              </a:rPr>
              <a:t>OmNi-Ledger  /  Technical evaluation prototype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44200" y="6556248"/>
            <a:ext cx="804672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700" b="0">
                <a:solidFill>
                  <a:srgbClr val="6F839B"/>
                </a:solidFill>
                <a:latin typeface="Arial"/>
              </a:rPr>
              <a:t>06  /  08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73152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 spc="120">
                <a:solidFill>
                  <a:srgbClr val="6FE6C5"/>
                </a:solidFill>
                <a:latin typeface="Arial"/>
              </a:rPr>
              <a:t>06 / ENGINEERING HONESTY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94944"/>
            <a:ext cx="1097280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F2F6FB"/>
                </a:solidFill>
                <a:latin typeface="Arial"/>
              </a:rPr>
              <a:t>Strong claims have explicit boundaries.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07592"/>
            <a:ext cx="1069848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91A1B7"/>
                </a:solidFill>
                <a:latin typeface="Arial"/>
              </a:rPr>
              <a:t>The prototype’s value comes from testable behavior—not from claiming to solve every downstream traceability problem.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901952"/>
            <a:ext cx="5321808" cy="1417320"/>
          </a:xfrm>
          <a:prstGeom prst="roundRect">
            <a:avLst>
              <a:gd name="adj" fmla="val 12000"/>
            </a:avLst>
          </a:prstGeom>
          <a:solidFill>
            <a:srgbClr val="0D1623"/>
          </a:solidFill>
          <a:ln w="8890">
            <a:solidFill>
              <a:srgbClr val="20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901952"/>
            <a:ext cx="41148" cy="1417320"/>
          </a:xfrm>
          <a:prstGeom prst="rect">
            <a:avLst/>
          </a:prstGeom>
          <a:solidFill>
            <a:srgbClr val="7DE2BD"/>
          </a:solidFill>
          <a:ln w="8890">
            <a:solidFill>
              <a:srgbClr val="7DE2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084832"/>
            <a:ext cx="4956048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2F6FB"/>
                </a:solidFill>
                <a:latin typeface="Arial"/>
              </a:rPr>
              <a:t>Proven in the packaged tests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487168"/>
            <a:ext cx="4956048" cy="6126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91A1B7"/>
                </a:solidFill>
                <a:latin typeface="Arial"/>
              </a:rPr>
              <a:t>Valid and expired receipt paths, recall/quarantine, post-recall pick block, recorded customer trace, transfer guard under recall, and ledger/audit verification.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044952"/>
            <a:ext cx="4956048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700" b="1">
                <a:solidFill>
                  <a:srgbClr val="7DE2BD"/>
                </a:solidFill>
                <a:latin typeface="Arial"/>
              </a:rPr>
              <a:t>LOCAL AUTOMATED TESTS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6208" y="1901952"/>
            <a:ext cx="5321808" cy="1417320"/>
          </a:xfrm>
          <a:prstGeom prst="roundRect">
            <a:avLst>
              <a:gd name="adj" fmla="val 12000"/>
            </a:avLst>
          </a:prstGeom>
          <a:solidFill>
            <a:srgbClr val="0D1623"/>
          </a:solidFill>
          <a:ln w="8890">
            <a:solidFill>
              <a:srgbClr val="20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36208" y="1901952"/>
            <a:ext cx="41148" cy="1417320"/>
          </a:xfrm>
          <a:prstGeom prst="rect">
            <a:avLst/>
          </a:prstGeom>
          <a:solidFill>
            <a:srgbClr val="80B7FF"/>
          </a:solidFill>
          <a:ln w="8890">
            <a:solidFill>
              <a:srgbClr val="80B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2084832"/>
            <a:ext cx="4956048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2F6FB"/>
                </a:solidFill>
                <a:latin typeface="Arial"/>
              </a:rPr>
              <a:t>Must be verified with account access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2487168"/>
            <a:ext cx="4956048" cy="6126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91A1B7"/>
                </a:solidFill>
                <a:latin typeface="Arial"/>
              </a:rPr>
              <a:t>Live Gemma inference through the exact AMD model endpoint, and the current deployed judge URL after publishing this new build.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3044952"/>
            <a:ext cx="4956048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700" b="1">
                <a:solidFill>
                  <a:srgbClr val="80B7FF"/>
                </a:solidFill>
                <a:latin typeface="Arial"/>
              </a:rPr>
              <a:t>LIVE CREDENTIALS / DEPLOYMENT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639312"/>
            <a:ext cx="5321808" cy="1417320"/>
          </a:xfrm>
          <a:prstGeom prst="roundRect">
            <a:avLst>
              <a:gd name="adj" fmla="val 12000"/>
            </a:avLst>
          </a:prstGeom>
          <a:solidFill>
            <a:srgbClr val="0D1623"/>
          </a:solidFill>
          <a:ln w="8890">
            <a:solidFill>
              <a:srgbClr val="20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4360" y="3639312"/>
            <a:ext cx="41148" cy="1417320"/>
          </a:xfrm>
          <a:prstGeom prst="rect">
            <a:avLst/>
          </a:prstGeom>
          <a:solidFill>
            <a:srgbClr val="FFCA80"/>
          </a:solidFill>
          <a:ln w="8890">
            <a:solidFill>
              <a:srgbClr val="FFC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822191"/>
            <a:ext cx="4956048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2F6FB"/>
                </a:solidFill>
                <a:latin typeface="Arial"/>
              </a:rPr>
              <a:t>Outside current scope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224528"/>
            <a:ext cx="4956048" cy="6126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91A1B7"/>
                </a:solidFill>
                <a:latin typeface="Arial"/>
              </a:rPr>
              <a:t>Patient-level and downstream sub-pharmacy tracing; individual GS1 serialization; customer returns; multi-user production concurrency.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782312"/>
            <a:ext cx="4956048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700" b="1">
                <a:solidFill>
                  <a:srgbClr val="FFCA80"/>
                </a:solidFill>
                <a:latin typeface="Arial"/>
              </a:rPr>
              <a:t>NOT IMPLEMENTED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3639312"/>
            <a:ext cx="5321808" cy="1417320"/>
          </a:xfrm>
          <a:prstGeom prst="roundRect">
            <a:avLst>
              <a:gd name="adj" fmla="val 12000"/>
            </a:avLst>
          </a:prstGeom>
          <a:solidFill>
            <a:srgbClr val="0D1623"/>
          </a:solidFill>
          <a:ln w="8890">
            <a:solidFill>
              <a:srgbClr val="2032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6208" y="3639312"/>
            <a:ext cx="41148" cy="1417320"/>
          </a:xfrm>
          <a:prstGeom prst="rect">
            <a:avLst/>
          </a:prstGeom>
          <a:solidFill>
            <a:srgbClr val="FF8093"/>
          </a:solidFill>
          <a:ln w="8890">
            <a:solidFill>
              <a:srgbClr val="FF80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19088" y="3822191"/>
            <a:ext cx="4956048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2F6FB"/>
                </a:solidFill>
                <a:latin typeface="Arial"/>
              </a:rPr>
              <a:t>Not claimed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9088" y="4224528"/>
            <a:ext cx="4956048" cy="6126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91A1B7"/>
                </a:solidFill>
                <a:latin typeface="Arial"/>
              </a:rPr>
              <a:t>Regulatory certification, zero hallucinations, unhackable storage, production readiness, or guaranteed competition results.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9088" y="4782312"/>
            <a:ext cx="4956048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700" b="1">
                <a:solidFill>
                  <a:srgbClr val="FF8093"/>
                </a:solidFill>
                <a:latin typeface="Arial"/>
              </a:rPr>
              <a:t>NO OVERCLAIMS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550408"/>
            <a:ext cx="1069848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6FE6C5"/>
                </a:solidFill>
                <a:latin typeface="Arial"/>
              </a:rPr>
              <a:t>The live request runs in Node/CLI; fixture mode never claims to be live inference.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" y="6510528"/>
            <a:ext cx="11000232" cy="7315"/>
          </a:xfrm>
          <a:prstGeom prst="rect">
            <a:avLst/>
          </a:prstGeom>
          <a:solidFill>
            <a:srgbClr val="2032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2" y="6565392"/>
            <a:ext cx="73152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700" b="0">
                <a:solidFill>
                  <a:srgbClr val="6F839B"/>
                </a:solidFill>
                <a:latin typeface="Arial"/>
              </a:rPr>
              <a:t>OmNi-Ledger  /  Technical evaluation prototype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44200" y="6556248"/>
            <a:ext cx="804672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700" b="0">
                <a:solidFill>
                  <a:srgbClr val="6F839B"/>
                </a:solidFill>
                <a:latin typeface="Arial"/>
              </a:rPr>
              <a:t>07  /  08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omni-ledger-cover-16x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D16"/>
          </a:solidFill>
          <a:ln w="8890">
            <a:solidFill>
              <a:srgbClr val="080D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27432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 spc="120">
                <a:solidFill>
                  <a:srgbClr val="6FE6C5"/>
                </a:solidFill>
                <a:latin typeface="Arial"/>
              </a:rPr>
              <a:t>07 / MISSION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6675120" cy="187451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100" b="1">
                <a:solidFill>
                  <a:srgbClr val="F2F6FB"/>
                </a:solidFill>
                <a:latin typeface="Arial"/>
              </a:rPr>
              <a:t>AI-assisted operations.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100" b="1">
                <a:solidFill>
                  <a:srgbClr val="F2F6FB"/>
                </a:solidFill>
                <a:latin typeface="Arial"/>
              </a:rPr>
              <a:t>Human accountability.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100" b="1">
                <a:solidFill>
                  <a:srgbClr val="F2F6FB"/>
                </a:solidFill>
                <a:latin typeface="Arial"/>
              </a:rPr>
              <a:t>Verifiable control.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" y="3493008"/>
            <a:ext cx="6400800" cy="10058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DCE7F3"/>
                </a:solidFill>
                <a:latin typeface="Arial"/>
              </a:rPr>
              <a:t>OmNi-Ledger was developed by a solo founder in Egypt through a phone-first, resource-constrained workflow. The mission is to make critical workflows safer to inspect and harder to bypass—not to hand operational authority to a language model.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8096" y="4983480"/>
            <a:ext cx="3017520" cy="457200"/>
          </a:xfrm>
          <a:prstGeom prst="roundRect">
            <a:avLst>
              <a:gd name="adj" fmla="val 12000"/>
            </a:avLst>
          </a:prstGeom>
          <a:solidFill>
            <a:srgbClr val="6FE6C5"/>
          </a:solidFill>
          <a:ln w="8890">
            <a:solidFill>
              <a:srgbClr val="6FE6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0976" y="5111496"/>
            <a:ext cx="26060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071A1A"/>
                </a:solidFill>
                <a:latin typeface="Arial"/>
              </a:rPr>
              <a:t>LET THE EVIDENCE SPEAK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199632"/>
            <a:ext cx="64008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B7C5D4"/>
                </a:solidFill>
                <a:latin typeface="Arial"/>
              </a:rPr>
              <a:t>OmNi-Ledger  ·  Reinvent Commerce (proposed track)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12680" y="5166360"/>
            <a:ext cx="914400" cy="914400"/>
          </a:xfrm>
          <a:prstGeom prst="roundRect">
            <a:avLst>
              <a:gd name="adj" fmla="val 12000"/>
            </a:avLst>
          </a:prstGeom>
          <a:solidFill>
            <a:srgbClr val="101D2D"/>
          </a:solidFill>
          <a:ln w="8890">
            <a:solidFill>
              <a:srgbClr val="6FE6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13848" y="5440680"/>
            <a:ext cx="530352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6FE6C5"/>
                </a:solidFill>
                <a:latin typeface="Arial"/>
              </a:rPr>
              <a:t>OL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OmNi-Ledger — Deterministic Supply-Chain Control</dc:title>
  <dc:subject>AMD Developer Hackathon ACT III · Judge Edition</dc:subject>
  <dc:creator>OmNi-Ledger project</dc:creator>
  <cp:keywords>AMD, Gemma, pharmaceutical supply chain, batch recall, deterministic validation, audit evidence</cp:keywords>
  <dc:description>Prototype presentation. See DEMO_SCRIPT.md and SCOPE_AND_LIMITATIONS.md for claims and boundaries.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